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50876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F5F3EE"/>
                </a:solidFill>
              </a:defRPr>
            </a:pPr>
            <a:r>
              <a:t>BURAK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2148840"/>
            <a:ext cx="6400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CAA65C"/>
                </a:solidFill>
              </a:defRPr>
            </a:pPr>
            <a:r>
              <a:t>TOKAT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3063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AAA8A4"/>
                </a:solidFill>
              </a:defRPr>
            </a:pPr>
            <a:r>
              <a:t>DJ • PRODUCER • ELECTRONIC MUSIC ARTIST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34924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F5F3EE"/>
                </a:solidFill>
              </a:defRPr>
            </a:pPr>
            <a:r>
              <a:t>AFRO HOUSE  /  TRIBAL  /  MELODIC  /  ELECTRONIC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806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A8A4"/>
                </a:solidFill>
              </a:defRPr>
            </a:pPr>
            <a:r>
              <a:t>ELECTRONIC PRESS KIT  •  2026</a:t>
            </a:r>
          </a:p>
        </p:txBody>
      </p:sp>
      <p:pic>
        <p:nvPicPr>
          <p:cNvPr id="9" name="Picture 8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25880"/>
            <a:ext cx="3657600" cy="17565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3EE"/>
                </a:solidFill>
              </a:defRPr>
            </a:pPr>
            <a:r>
              <a:t>ARTIST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62763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A8A4"/>
                </a:solidFill>
              </a:defRPr>
            </a:pPr>
            <a:r>
              <a:t>A modern Afro House identity from Türkiye.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240280"/>
            <a:ext cx="6949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5F3EE"/>
                </a:solidFill>
              </a:defRPr>
            </a:pPr>
            <a:r>
              <a:t>Burak Tokat is a Türkiye-based DJ and electronic music producer active since 2020. His musical direction combines Afro House grooves, tribal percussion, emotional melodies, vocals and contemporary electronic production.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52628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CAA65C"/>
                </a:solidFill>
              </a:defRPr>
            </a:pPr>
            <a:r>
              <a:t>His focus is simple: create records that move the dancefloor while leaving a strong emotional impression.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2148840"/>
            <a:ext cx="3200400" cy="329184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58200" y="235000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807208"/>
            <a:ext cx="274320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ENERGY</a:t>
            </a:r>
            <a:br/>
            <a:r>
              <a:t>EMOTION</a:t>
            </a:r>
            <a:br/>
            <a:r>
              <a:t>IDENTITY</a:t>
            </a:r>
            <a:br/>
            <a:br/>
            <a:r>
              <a:t>Türkiye → Global</a:t>
            </a:r>
          </a:p>
        </p:txBody>
      </p:sp>
      <p:pic>
        <p:nvPicPr>
          <p:cNvPr id="11" name="Picture 10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1143000" cy="54891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3EE"/>
                </a:solidFill>
              </a:defRPr>
            </a:pPr>
            <a:r>
              <a:t>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62763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A8A4"/>
                </a:solidFill>
              </a:defRPr>
            </a:pPr>
            <a:r>
              <a:t>Organic rhythm meets modern electronic production.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383280" cy="164592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00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AFRO HOUSE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0720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Driving grooves and contemporary club energy.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48840"/>
            <a:ext cx="3383280" cy="164592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3500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TRIBAL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0720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Organic percussion and rhythmic movement.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2148840"/>
            <a:ext cx="3383280" cy="164592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3500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MELODIC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807208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Atmosphere, hooks and emotional tension.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206240"/>
            <a:ext cx="3383280" cy="164592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407407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VOCAL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64607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Emotional female vocals and vocal textures.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206240"/>
            <a:ext cx="3383280" cy="164592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407407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SOUND 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864607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Modern synths, textures and acid-inspired details.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4206240"/>
            <a:ext cx="3383280" cy="164592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4407407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CLUB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864607"/>
            <a:ext cx="2926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Arrangements built for movement and momentum.</a:t>
            </a:r>
          </a:p>
        </p:txBody>
      </p:sp>
      <p:pic>
        <p:nvPicPr>
          <p:cNvPr id="24" name="Picture 23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1143000" cy="5489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3EE"/>
                </a:solidFill>
              </a:defRPr>
            </a:pPr>
            <a:r>
              <a:t>DJ CAREER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62763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A8A4"/>
                </a:solidFill>
              </a:defRPr>
            </a:pPr>
            <a:r>
              <a:t>From club booths to an international-facing artist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474720" cy="265176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00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2020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07208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DJ career begins</a:t>
            </a:r>
            <a:br/>
            <a:r>
              <a:t>Club Inferno Mania</a:t>
            </a:r>
            <a:br/>
            <a:r>
              <a:t>Konya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148840"/>
            <a:ext cx="3474720" cy="265176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3500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CAREER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807208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Club Inferno Mania</a:t>
            </a:r>
            <a:br/>
            <a:r>
              <a:t>Bursa</a:t>
            </a:r>
            <a:br/>
            <a:br/>
            <a:r>
              <a:t>Mr Frog — Konya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148840"/>
            <a:ext cx="3474720" cy="265176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3500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2020—2026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807208"/>
            <a:ext cx="3017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Continuous DJ and</a:t>
            </a:r>
            <a:br/>
            <a:r>
              <a:t>stage experience</a:t>
            </a:r>
            <a:br/>
            <a:r>
              <a:t>across club environments</a:t>
            </a:r>
          </a:p>
        </p:txBody>
      </p:sp>
      <p:pic>
        <p:nvPicPr>
          <p:cNvPr id="15" name="Picture 14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1143000" cy="54891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3EE"/>
                </a:solidFill>
              </a:defRPr>
            </a:pPr>
            <a:r>
              <a:t>TECHNICAL EXPERIENCE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62763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A8A4"/>
                </a:solidFill>
              </a:defRPr>
            </a:pPr>
            <a:r>
              <a:t>A stage mindset beyond the DJ booth.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AA65C"/>
                </a:solidFill>
              </a:defRPr>
            </a:pPr>
            <a:r>
              <a:t>LIGHTING CONSOLES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2560320"/>
            <a:ext cx="3337560" cy="1600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761488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18687"/>
            <a:ext cx="2880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Avolites Tiger Touch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60320"/>
            <a:ext cx="3337560" cy="1600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761488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218687"/>
            <a:ext cx="2880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Avolites Pearl 2010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1000" y="2560320"/>
            <a:ext cx="3337560" cy="1600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2761488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218687"/>
            <a:ext cx="2880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GrandMA2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09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>
                <a:solidFill>
                  <a:srgbClr val="F5F3EE"/>
                </a:solidFill>
              </a:defRPr>
            </a:pPr>
            <a:r>
              <a:t>Experience with professional lighting systems adds a visual and technical perspective to live performance.</a:t>
            </a:r>
          </a:p>
        </p:txBody>
      </p:sp>
      <p:pic>
        <p:nvPicPr>
          <p:cNvPr id="17" name="Picture 16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1143000" cy="5489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3EE"/>
                </a:solidFill>
              </a:defRPr>
            </a:pPr>
            <a:r>
              <a:t>MUSIC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62763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A8A4"/>
                </a:solidFill>
              </a:defRPr>
            </a:pPr>
            <a:r>
              <a:t>Selected projects shaping the next chapter.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5212080" cy="301752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000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FEELS LIKE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07208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Burak Tokat — Feels Like (Original Mix)</a:t>
            </a:r>
            <a:br/>
            <a:br/>
            <a:r>
              <a:t>A release representing the artist's melodic and contemporary electronic direction.</a:t>
            </a:r>
            <a:br/>
            <a:br/>
            <a:r>
              <a:t>Surrealismo Records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48840"/>
            <a:ext cx="5212080" cy="301752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35000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CRESCENT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807208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Burak Tokat — Crescent</a:t>
            </a:r>
            <a:br/>
            <a:br/>
            <a:r>
              <a:t>123 BPM • F Major</a:t>
            </a:r>
            <a:br/>
            <a:r>
              <a:t>Afro House • Tribal • Emotional Female Vocal</a:t>
            </a:r>
            <a:br/>
            <a:br/>
            <a:r>
              <a:t>A more current, international-facing production direction.</a:t>
            </a:r>
          </a:p>
        </p:txBody>
      </p:sp>
      <p:pic>
        <p:nvPicPr>
          <p:cNvPr id="12" name="Picture 11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1143000" cy="5489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3EE"/>
                </a:solidFill>
              </a:defRPr>
            </a:pPr>
            <a:r>
              <a:t>ARTIST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62763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A8A4"/>
                </a:solidFill>
              </a:defRPr>
            </a:pPr>
            <a:r>
              <a:t>Three principles define the Burak Tokat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3383280" cy="2743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500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01 — ENERGY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07208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Music that keeps the dancefloor moving with a strong, organic groove.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148840"/>
            <a:ext cx="3383280" cy="2743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3500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02 — EMOTION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807208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Melody and vocal elements that create a memorable emotional connection.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2148840"/>
            <a:ext cx="3383280" cy="2743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35000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03 —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807208"/>
            <a:ext cx="2926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A recognizable artist character inside the evolving global Afro House scene.</a:t>
            </a:r>
          </a:p>
        </p:txBody>
      </p:sp>
      <p:pic>
        <p:nvPicPr>
          <p:cNvPr id="15" name="Picture 14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1143000" cy="5489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3EE"/>
                </a:solidFill>
              </a:defRPr>
            </a:pPr>
            <a:r>
              <a:t>NEXT CHAPTER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62763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A8A4"/>
                </a:solidFill>
              </a:defRPr>
            </a:pPr>
            <a:r>
              <a:t>Building a global electronic music identity from Türkiye.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57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F3EE"/>
                </a:solidFill>
              </a:defRPr>
            </a:pPr>
            <a:r>
              <a:t>—  International label 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F3EE"/>
                </a:solidFill>
              </a:defRPr>
            </a:pPr>
            <a:r>
              <a:t>—  Global streaming audience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343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F3EE"/>
                </a:solidFill>
              </a:defRPr>
            </a:pPr>
            <a:r>
              <a:t>—  Club &amp; festival bookings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057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F3EE"/>
                </a:solidFill>
              </a:defRPr>
            </a:pPr>
            <a:r>
              <a:t>—  Original Afro House sound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F3EE"/>
                </a:solidFill>
              </a:defRPr>
            </a:pPr>
            <a:r>
              <a:t>—  Professional artist branding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4343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F3EE"/>
                </a:solidFill>
              </a:defRPr>
            </a:pPr>
            <a:r>
              <a:t>—  International collaborations</a:t>
            </a:r>
          </a:p>
        </p:txBody>
      </p:sp>
      <p:pic>
        <p:nvPicPr>
          <p:cNvPr id="12" name="Picture 11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1143000" cy="5489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3EE"/>
                </a:solidFill>
              </a:defRPr>
            </a:pPr>
            <a:r>
              <a:t>DIGITAL PRESENCE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62763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A8A4"/>
                </a:solidFill>
              </a:defRPr>
            </a:pPr>
            <a:r>
              <a:t>Building a consistent and discoverable artist ecosystem.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3383280" cy="1600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5856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SPOTIFY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15768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Artist profile &amp; releases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057400"/>
            <a:ext cx="3383280" cy="1600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225856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APPLE MUSIC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715768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Artist identity &amp; catalog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80" y="2057400"/>
            <a:ext cx="3383280" cy="1600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25856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INSTAGRAM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715768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@burak_tkt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069080"/>
            <a:ext cx="3383280" cy="1600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2702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MUSICBRAINZ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727448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Structured artist metadata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4069080"/>
            <a:ext cx="3383280" cy="1600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2702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WIKIMEDIA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4727448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Public media &amp; identity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83880" y="4069080"/>
            <a:ext cx="3383280" cy="1600200"/>
          </a:xfrm>
          <a:prstGeom prst="roundRect">
            <a:avLst/>
          </a:prstGeom>
          <a:solidFill>
            <a:srgbClr val="121215"/>
          </a:solidFill>
          <a:ln>
            <a:solidFill>
              <a:srgbClr val="2D2C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427024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AA65C"/>
                </a:solidFill>
              </a:defRPr>
            </a:pPr>
            <a:r>
              <a:t>PRESS / MEDIA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727448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5F3EE"/>
                </a:solidFill>
              </a:defRPr>
            </a:pPr>
            <a:r>
              <a:t>Professional artist assets</a:t>
            </a:r>
          </a:p>
        </p:txBody>
      </p:sp>
      <p:pic>
        <p:nvPicPr>
          <p:cNvPr id="24" name="Picture 23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1143000" cy="5489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3EE"/>
                </a:solidFill>
              </a:defRPr>
            </a:pPr>
            <a:r>
              <a:t>ARTIST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62763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A8A4"/>
                </a:solidFill>
              </a:defRPr>
            </a:pPr>
            <a:r>
              <a:t>A clear proposition for labels, venues and media.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14884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CAA65C"/>
                </a:solidFill>
              </a:defRPr>
            </a:pPr>
            <a:r>
              <a:t>BURAK TOKAT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834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AAA8A4"/>
                </a:solidFill>
              </a:defRPr>
            </a:pPr>
            <a:r>
              <a:t>DJ • PRODUCER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8328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F5F3EE"/>
                </a:solidFill>
              </a:defRPr>
            </a:pPr>
            <a:r>
              <a:t>Afro House / Tribal / Melodic Electronic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2519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0">
                <a:solidFill>
                  <a:srgbClr val="F5F3EE"/>
                </a:solidFill>
              </a:defRPr>
            </a:pPr>
            <a:r>
              <a:t>“Tribal energy, emotional melodies and modern electronic sound.”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5623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AAA8A4"/>
                </a:solidFill>
              </a:defRPr>
            </a:pPr>
            <a:r>
              <a:t>TÜRKIYE  →  GLOBAL</a:t>
            </a:r>
          </a:p>
        </p:txBody>
      </p:sp>
      <p:pic>
        <p:nvPicPr>
          <p:cNvPr id="11" name="Picture 10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6144768"/>
            <a:ext cx="1143000" cy="54891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502920" cy="41148"/>
          </a:xfrm>
          <a:prstGeom prst="rect">
            <a:avLst/>
          </a:prstGeom>
          <a:solidFill>
            <a:srgbClr val="CAA6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155680" y="411480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AA8A4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96012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5F3EE"/>
                </a:solidFill>
              </a:defRPr>
            </a:pPr>
            <a:r>
              <a:t>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1627632"/>
            <a:ext cx="104241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AA8A4"/>
                </a:solidFill>
              </a:defRPr>
            </a:pPr>
            <a:r>
              <a:t>Booking • Management • Press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0116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5F3EE"/>
                </a:solidFill>
              </a:defRPr>
            </a:pPr>
            <a:r>
              <a:t>BURAK TOKAT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78892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CAA65C"/>
                </a:solidFill>
              </a:defRPr>
            </a:pPr>
            <a:r>
              <a:t>DJ • PRODUCER • ELECTRONIC MUSIC ARTIST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5F3EE"/>
                </a:solidFill>
              </a:defRPr>
            </a:pPr>
            <a:r>
              <a:t>Instagram  @burak_tkt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160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5F3EE"/>
                </a:solidFill>
              </a:defRPr>
            </a:pPr>
            <a:r>
              <a:t>Booking / Management  —  To be added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663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5F3EE"/>
                </a:solidFill>
              </a:defRPr>
            </a:pPr>
            <a:r>
              <a:t>Email  —  To be added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806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AAA8A4"/>
                </a:solidFill>
              </a:defRPr>
            </a:pPr>
            <a:r>
              <a:t>ELECTRONIC PRESS KIT • 2026</a:t>
            </a:r>
          </a:p>
        </p:txBody>
      </p:sp>
      <p:pic>
        <p:nvPicPr>
          <p:cNvPr id="12" name="Picture 11" descr="burak_tokat_logo_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600200"/>
            <a:ext cx="3383280" cy="162478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792" y="507492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5F3EE"/>
                </a:solidFill>
              </a:defRPr>
            </a:pPr>
            <a:r>
              <a:t>Email  —  buraktokatmr@gmail.com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